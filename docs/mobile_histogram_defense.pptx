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刘铠睿
开场：我们选择的是课题一，目标是在移动端完成图片接入、灰度直方图生成和性能展示。项目最终以 Android APK 形式交付，核心处理在本地完成，便于现场演示和验收。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张颖瑞
这一页讲任务要求：需要移动端程序，上传图像，按照指定灰度公式统计彩色图像像素，生成 256×100 黑白直方图，同时显示生成速度，要求在 300ms 以内。我们后续所有设计都围绕这几个约束展开。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张颖瑞
这页介绍产品形态：它不是一个只跑在浏览器里的小页面，而是打包成 Android APK。原生层解决移动端接入问题，H5 层完成图像处理和展示。这样既满足移动端要求，也保证现场没有网络时仍然能演示。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陈尹嘉
演示时只需要按照这条路径走：先接入图片，系统自动进入输出和指标页；输出页看直方图，指标页看验收自检和性能余量，日志页用于说明每一步处理过程。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陈尹嘉
核心链路很直接：图片先绘制到 Canvas，读取 RGBA 像素；每四个字节对应一个像素，再按题目给定公式计算灰度，归入 0 到 255 的 bin；统计完后根据最大计数归一化到 0 到 100，最后绘制成 256×100 黑白直方图。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陈尹嘉
这页讲算法。我们没有使用复杂库，主要是按照任务书公式计算灰度，再用 256 长度数组统计。归一化不是改变统计值，而是为了把最大柱高映射到 100，保证输出图固定为 256×100。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陈尹嘉
这里不要说“故意写慢的优化前”，而是说“低效对照版本”。它用来说明普通数组、对象分配、重复扫描会导致性能下降。当前版本使用 TypedArray 和单次遍历，真机同图对照从 2693.7ms 降到 46.6ms，结果仍保持一致。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汤吉泽
指标页主要用于验收。它不是新增复杂算法，而是把老师可能检查的条件自动列出来，包括 bins 是否为 256、像素总数是否一致、画布是否为 256×100、耗时是否小于 300ms。灰度分布分析只是基于统计结果做规则解释。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汤吉泽
这一页讲轻量化创新。我们没有加入 AI 或复杂模型，而是加入双图对比、处理日志和协议说明。它们的作用是让演示更完整，但核心仍然是直方图统计。这样老师问起来也容易解释。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汤吉泽
测试部分主要说明两类证据：一是真机运行截图，说明在真实手机上可以完成选图和生成；二是验收自检，说明 bins、像素总数、归一化和输出尺寸都符合要求。性能上当前耗时远低于 300ms。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刘铠睿
这页介绍分工。立项和最终验收由我负责；需求确立和一次验收由张颖瑞负责；汤吉泽负责辅助研发和二次测试；陈尹嘉负责核心研发，包括主流程、算法、性能优化和指标页。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刘铠睿 / 全员
收尾：我们完成了任务要求，并在此基础上增加了验收自检、性能对照、日志和双图对比。这些功能不改变核心算法，主要提高可验证性和答辩展示效果。最后进入老师提问。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1097280"/>
            <a:ext cx="6309360" cy="1554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7F2FF"/>
                </a:solidFill>
              </a:rPr>
              <a:t>移动端图像直方图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7F2FF"/>
                </a:solidFill>
              </a:rPr>
              <a:t>分析系统</a:t>
            </a:r>
            <a:endParaRPr lang="en-US" sz="4300" dirty="0"/>
          </a:p>
        </p:txBody>
      </p:sp>
      <p:sp>
        <p:nvSpPr>
          <p:cNvPr id="31" name="Text 29"/>
          <p:cNvSpPr/>
          <p:nvPr/>
        </p:nvSpPr>
        <p:spPr>
          <a:xfrm>
            <a:off x="694944" y="27889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A7FF"/>
                </a:solidFill>
              </a:rPr>
              <a:t>课题一：图像直方图计算及性能优化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" y="3218688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DB0D4"/>
                </a:solidFill>
              </a:rPr>
              <a:t>Android WebView APK + H5 Canvas · 离线图像处理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13232" y="379476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21637">
              <a:alpha val="95000"/>
            </a:srgbClr>
          </a:solidFill>
          <a:ln w="12700">
            <a:solidFill>
              <a:srgbClr val="9B6CFF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867912"/>
            <a:ext cx="101498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6CFF"/>
                </a:solidFill>
              </a:rPr>
              <a:t>256 bins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57400" y="379476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221637">
              <a:alpha val="95000"/>
            </a:srgbClr>
          </a:solidFill>
          <a:ln w="12700">
            <a:solidFill>
              <a:srgbClr val="44E6FF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67128" y="3867912"/>
            <a:ext cx="106070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4E6FF"/>
                </a:solidFill>
              </a:rPr>
              <a:t>256×100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56432" y="379476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221637">
              <a:alpha val="95000"/>
            </a:srgbClr>
          </a:solidFill>
          <a:ln w="12700">
            <a:solidFill>
              <a:srgbClr val="7DF9C4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3867912"/>
            <a:ext cx="106070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F9C4"/>
                </a:solidFill>
              </a:rPr>
              <a:t>&lt; 300ms</a:t>
            </a:r>
            <a:endParaRPr lang="en-US" sz="1050" dirty="0"/>
          </a:p>
        </p:txBody>
      </p:sp>
      <p:pic>
        <p:nvPicPr>
          <p:cNvPr id="39" name="Image 0" descr="/mnt/data/8047140ea878e0653bb221c253c246e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94010"/>
            <a:ext cx="1920240" cy="426998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7315200" y="1006475"/>
            <a:ext cx="1920240" cy="4791710"/>
          </a:xfrm>
          <a:prstGeom prst="roundRect">
            <a:avLst>
              <a:gd name="adj" fmla="val 4286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41" name="Image 1" descr="/mnt/data/510c5552561aefa041b844f3182716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168354"/>
            <a:ext cx="1645920" cy="4438996"/>
          </a:xfrm>
          <a:prstGeom prst="rect">
            <a:avLst/>
          </a:prstGeom>
        </p:spPr>
      </p:pic>
      <p:sp>
        <p:nvSpPr>
          <p:cNvPr id="42" name="Shape 38"/>
          <p:cNvSpPr/>
          <p:nvPr/>
        </p:nvSpPr>
        <p:spPr>
          <a:xfrm>
            <a:off x="9555480" y="1006475"/>
            <a:ext cx="1645920" cy="4791710"/>
          </a:xfrm>
          <a:prstGeom prst="roundRect">
            <a:avLst>
              <a:gd name="adj" fmla="val 5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6903720" y="1005840"/>
            <a:ext cx="0" cy="4800600"/>
          </a:xfrm>
          <a:prstGeom prst="line">
            <a:avLst/>
          </a:prstGeom>
          <a:noFill/>
          <a:ln w="1524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13232" y="5074920"/>
            <a:ext cx="5669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0D4"/>
                </a:solidFill>
              </a:rPr>
              <a:t>刘铠睿 / 张颖瑞 / 汤吉泽 / 陈尹嘉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713232" y="5486400"/>
            <a:ext cx="1920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课题要求对齐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先按任务书把必做项做稳，再做少量解释性增强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417320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1783080"/>
            <a:ext cx="6400800" cy="3886200"/>
          </a:xfrm>
          <a:prstGeom prst="roundRect">
            <a:avLst>
              <a:gd name="adj" fmla="val 1882"/>
            </a:avLst>
          </a:prstGeom>
          <a:solidFill>
            <a:srgbClr val="161029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202996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移动端程序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542032" y="202996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APP / 小程序均可，支持上传图像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265176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灰度计算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42032" y="2651760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gray = 0.299R + 0.587G + 0.114B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327355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直方图输出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542032" y="327355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统计 0–255 灰度值，绘制 256×100 黑白图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0120" y="389534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性能约束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542032" y="3895344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生成速度控制在 300ms 以内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" y="451713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验收重点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542032" y="4517136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耗时与结果准确性</a:t>
            </a:r>
            <a:endParaRPr lang="en-US" sz="1400" dirty="0"/>
          </a:p>
        </p:txBody>
      </p:sp>
      <p:pic>
        <p:nvPicPr>
          <p:cNvPr id="44" name="Image 0" descr="/mnt/data/486b391958a9a55cf5eba0fef639689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644972"/>
            <a:ext cx="2011680" cy="4473312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9281160" y="1298448"/>
            <a:ext cx="2011680" cy="5166360"/>
          </a:xfrm>
          <a:prstGeom prst="roundRect">
            <a:avLst>
              <a:gd name="adj" fmla="val 4091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1520" y="5916168"/>
            <a:ext cx="6583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B0D4"/>
                </a:solidFill>
              </a:rPr>
              <a:t>PPT 只讲能解释清楚的内容，不额外引入 AI、云端或复杂模型。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项目形态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一个可离线演示的移动端直方图工程控制台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284605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pic>
        <p:nvPicPr>
          <p:cNvPr id="33" name="Image 0" descr="/mnt/data/7f47e8b99399e9002cb2e45269cc314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03283"/>
            <a:ext cx="2057400" cy="4574979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749808" y="1353312"/>
            <a:ext cx="2057400" cy="507492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35" name="Image 1" descr="/mnt/data/8047140ea878e0653bb221c253c246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603283"/>
            <a:ext cx="2057400" cy="4574979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3090672" y="1353312"/>
            <a:ext cx="2057400" cy="507492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37" name="Image 2" descr="/mnt/data/251ca07abb184781a4f4095985b637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072" y="1353312"/>
            <a:ext cx="1112617" cy="507492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5440680" y="1353312"/>
            <a:ext cx="2057400" cy="507492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065008" y="1417320"/>
            <a:ext cx="3429000" cy="4434840"/>
          </a:xfrm>
          <a:prstGeom prst="roundRect">
            <a:avLst>
              <a:gd name="adj" fmla="val 2133"/>
            </a:avLst>
          </a:prstGeom>
          <a:solidFill>
            <a:srgbClr val="161029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8357616" y="1755648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2FF"/>
                </a:solidFill>
              </a:rPr>
              <a:t>实现边界</a:t>
            </a:r>
            <a:endParaRPr lang="en-US" sz="1800" dirty="0"/>
          </a:p>
        </p:txBody>
      </p:sp>
      <p:sp>
        <p:nvSpPr>
          <p:cNvPr id="41" name="Text 36"/>
          <p:cNvSpPr/>
          <p:nvPr/>
        </p:nvSpPr>
        <p:spPr>
          <a:xfrm>
            <a:off x="8348472" y="233172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8604504" y="23500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Android 壳负责 WebView 和本地图片选择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8348472" y="290779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8604504" y="29260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H5 Canvas 负责像素读取、统计和绘图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8348472" y="348386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8604504" y="350215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无后端、无数据库、无网络依赖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348472" y="405993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8" name="Text 43"/>
          <p:cNvSpPr/>
          <p:nvPr/>
        </p:nvSpPr>
        <p:spPr>
          <a:xfrm>
            <a:off x="8604504" y="407822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按“接入—输出—指标—日志”拆分演示页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8366760" y="498348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7A7FF"/>
                </a:solidFill>
              </a:rPr>
              <a:t>一句话：手机本地选图，直接生成可验收的灰度直方图结果。</a:t>
            </a:r>
            <a:endParaRPr lang="en-US" sz="1500" dirty="0"/>
          </a:p>
        </p:txBody>
      </p:sp>
      <p:sp>
        <p:nvSpPr>
          <p:cNvPr id="51" name="Text 45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演示路径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流程保持短：选图 → 生成 → 看指标 → 对照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417320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16916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241538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" y="190195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A7FF"/>
                </a:solidFill>
              </a:rPr>
              <a:t>01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554480" y="1865376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2FF"/>
                </a:solidFill>
              </a:rPr>
              <a:t>接入图像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54480" y="22402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DB0D4"/>
                </a:solidFill>
              </a:rPr>
              <a:t>选择本地图片并预览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72968" y="2359152"/>
            <a:ext cx="502920" cy="0"/>
          </a:xfrm>
          <a:prstGeom prst="line">
            <a:avLst/>
          </a:prstGeom>
          <a:noFill/>
          <a:ln w="25400">
            <a:solidFill>
              <a:srgbClr val="C7A7F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657600" y="16916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190195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A7FF"/>
                </a:solidFill>
              </a:rPr>
              <a:t>02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343400" y="1865376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2FF"/>
                </a:solidFill>
              </a:rPr>
              <a:t>处理链路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343400" y="22402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DB0D4"/>
                </a:solidFill>
              </a:rPr>
              <a:t>读取 RGBA，计算灰度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61888" y="2359152"/>
            <a:ext cx="502920" cy="0"/>
          </a:xfrm>
          <a:prstGeom prst="line">
            <a:avLst/>
          </a:prstGeom>
          <a:noFill/>
          <a:ln w="25400">
            <a:solidFill>
              <a:srgbClr val="C7A7FF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446520" y="16916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190195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A7FF"/>
                </a:solidFill>
              </a:rPr>
              <a:t>03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132320" y="1865376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2FF"/>
                </a:solidFill>
              </a:rPr>
              <a:t>输出直方图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32320" y="22402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DB0D4"/>
                </a:solidFill>
              </a:rPr>
              <a:t>256 bins 与 256×100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50808" y="2359152"/>
            <a:ext cx="502920" cy="0"/>
          </a:xfrm>
          <a:prstGeom prst="line">
            <a:avLst/>
          </a:prstGeom>
          <a:noFill/>
          <a:ln w="25400">
            <a:solidFill>
              <a:srgbClr val="C7A7FF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235440" y="16916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00032" y="1901952"/>
            <a:ext cx="411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7A7FF"/>
                </a:solidFill>
              </a:rPr>
              <a:t>04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921240" y="1865376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2FF"/>
                </a:solidFill>
              </a:rPr>
              <a:t>指标验收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921240" y="224028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DB0D4"/>
                </a:solidFill>
              </a:rPr>
              <a:t>耗时、像素、自检结果</a:t>
            </a:r>
            <a:endParaRPr lang="en-US" sz="1100" dirty="0"/>
          </a:p>
        </p:txBody>
      </p:sp>
      <p:pic>
        <p:nvPicPr>
          <p:cNvPr id="52" name="Image 0" descr="/mnt/data/8047140ea878e0653bb221c253c246e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6060" y="3337560"/>
            <a:ext cx="1357000" cy="3017520"/>
          </a:xfrm>
          <a:prstGeom prst="rect">
            <a:avLst/>
          </a:prstGeom>
        </p:spPr>
      </p:pic>
      <p:sp>
        <p:nvSpPr>
          <p:cNvPr id="53" name="Shape 50"/>
          <p:cNvSpPr/>
          <p:nvPr/>
        </p:nvSpPr>
        <p:spPr>
          <a:xfrm>
            <a:off x="1143000" y="3337560"/>
            <a:ext cx="2103120" cy="3017520"/>
          </a:xfrm>
          <a:prstGeom prst="roundRect">
            <a:avLst>
              <a:gd name="adj" fmla="val 3913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54" name="Image 1" descr="/mnt/data/510c5552561aefa041b844f3182716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460" y="3337560"/>
            <a:ext cx="1118856" cy="3017520"/>
          </a:xfrm>
          <a:prstGeom prst="rect">
            <a:avLst/>
          </a:prstGeom>
        </p:spPr>
      </p:pic>
      <p:sp>
        <p:nvSpPr>
          <p:cNvPr id="55" name="Shape 51"/>
          <p:cNvSpPr/>
          <p:nvPr/>
        </p:nvSpPr>
        <p:spPr>
          <a:xfrm>
            <a:off x="3767328" y="3337560"/>
            <a:ext cx="2103120" cy="3017520"/>
          </a:xfrm>
          <a:prstGeom prst="roundRect">
            <a:avLst>
              <a:gd name="adj" fmla="val 3913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56" name="Image 2" descr="/mnt/data/251ca07abb184781a4f4095985b637c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294" y="3337560"/>
            <a:ext cx="661556" cy="3017520"/>
          </a:xfrm>
          <a:prstGeom prst="rect">
            <a:avLst/>
          </a:prstGeom>
        </p:spPr>
      </p:pic>
      <p:sp>
        <p:nvSpPr>
          <p:cNvPr id="57" name="Shape 52"/>
          <p:cNvSpPr/>
          <p:nvPr/>
        </p:nvSpPr>
        <p:spPr>
          <a:xfrm>
            <a:off x="6382512" y="3337560"/>
            <a:ext cx="2103120" cy="3017520"/>
          </a:xfrm>
          <a:prstGeom prst="roundRect">
            <a:avLst>
              <a:gd name="adj" fmla="val 3913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58" name="Image 3" descr="/mnt/data/10e82dbd311f6979205c18154242861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900" y="3337560"/>
            <a:ext cx="1357000" cy="3017520"/>
          </a:xfrm>
          <a:prstGeom prst="rect">
            <a:avLst/>
          </a:prstGeom>
        </p:spPr>
      </p:pic>
      <p:sp>
        <p:nvSpPr>
          <p:cNvPr id="59" name="Shape 53"/>
          <p:cNvSpPr/>
          <p:nvPr/>
        </p:nvSpPr>
        <p:spPr>
          <a:xfrm>
            <a:off x="9006840" y="3337560"/>
            <a:ext cx="2103120" cy="3017520"/>
          </a:xfrm>
          <a:prstGeom prst="roundRect">
            <a:avLst>
              <a:gd name="adj" fmla="val 3913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核心处理链路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用单页把图像从输入到直方图输出的过程讲清楚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417320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pic>
        <p:nvPicPr>
          <p:cNvPr id="33" name="Image 0" descr="/mnt/data/d3bd09c7734562dae2f4351fde6dfd3b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9" y="1664208"/>
            <a:ext cx="2076621" cy="461772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777240" y="1664208"/>
            <a:ext cx="2560320" cy="4617720"/>
          </a:xfrm>
          <a:prstGeom prst="roundRect">
            <a:avLst>
              <a:gd name="adj" fmla="val 3214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7680" y="1783080"/>
            <a:ext cx="1719072" cy="868680"/>
          </a:xfrm>
          <a:prstGeom prst="roundRect">
            <a:avLst>
              <a:gd name="adj" fmla="val 8421"/>
            </a:avLst>
          </a:prstGeom>
          <a:solidFill>
            <a:srgbClr val="19112C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43984" y="194767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E6FF"/>
                </a:solidFill>
              </a:rPr>
              <a:t>01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828032" y="1947672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2FF"/>
                </a:solidFill>
              </a:rPr>
              <a:t>Image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016752" y="2212848"/>
            <a:ext cx="502920" cy="0"/>
          </a:xfrm>
          <a:prstGeom prst="line">
            <a:avLst/>
          </a:prstGeom>
          <a:noFill/>
          <a:ln w="20320">
            <a:solidFill>
              <a:srgbClr val="C7A7FF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583680" y="1783080"/>
            <a:ext cx="1719072" cy="868680"/>
          </a:xfrm>
          <a:prstGeom prst="roundRect">
            <a:avLst>
              <a:gd name="adj" fmla="val 8421"/>
            </a:avLst>
          </a:prstGeom>
          <a:solidFill>
            <a:srgbClr val="19112C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29984" y="194767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E6FF"/>
                </a:solidFill>
              </a:rPr>
              <a:t>02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114032" y="1947672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2FF"/>
                </a:solidFill>
              </a:rPr>
              <a:t>Decode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8302752" y="2212848"/>
            <a:ext cx="502920" cy="0"/>
          </a:xfrm>
          <a:prstGeom prst="line">
            <a:avLst/>
          </a:prstGeom>
          <a:noFill/>
          <a:ln w="20320">
            <a:solidFill>
              <a:srgbClr val="C7A7FF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8869680" y="1783080"/>
            <a:ext cx="1719072" cy="868680"/>
          </a:xfrm>
          <a:prstGeom prst="roundRect">
            <a:avLst>
              <a:gd name="adj" fmla="val 8421"/>
            </a:avLst>
          </a:prstGeom>
          <a:solidFill>
            <a:srgbClr val="19112C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015984" y="194767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E6FF"/>
                </a:solidFill>
              </a:rPr>
              <a:t>03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400032" y="1947672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2FF"/>
                </a:solidFill>
              </a:rPr>
              <a:t>Gray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4297680" y="3291840"/>
            <a:ext cx="1719072" cy="868680"/>
          </a:xfrm>
          <a:prstGeom prst="roundRect">
            <a:avLst>
              <a:gd name="adj" fmla="val 8421"/>
            </a:avLst>
          </a:prstGeom>
          <a:solidFill>
            <a:srgbClr val="19112C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443984" y="345643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E6FF"/>
                </a:solidFill>
              </a:rPr>
              <a:t>04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4828032" y="3456432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2FF"/>
                </a:solidFill>
              </a:rPr>
              <a:t>Bins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016752" y="3721608"/>
            <a:ext cx="502920" cy="0"/>
          </a:xfrm>
          <a:prstGeom prst="line">
            <a:avLst/>
          </a:prstGeom>
          <a:noFill/>
          <a:ln w="20320">
            <a:solidFill>
              <a:srgbClr val="C7A7FF"/>
            </a:solidFill>
            <a:prstDash val="solid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6583680" y="3291840"/>
            <a:ext cx="1719072" cy="868680"/>
          </a:xfrm>
          <a:prstGeom prst="roundRect">
            <a:avLst>
              <a:gd name="adj" fmla="val 8421"/>
            </a:avLst>
          </a:prstGeom>
          <a:solidFill>
            <a:srgbClr val="19112C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729984" y="345643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E6FF"/>
                </a:solidFill>
              </a:rPr>
              <a:t>05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7114032" y="3456432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2FF"/>
                </a:solidFill>
              </a:rPr>
              <a:t>Normalize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8302752" y="3721608"/>
            <a:ext cx="502920" cy="0"/>
          </a:xfrm>
          <a:prstGeom prst="line">
            <a:avLst/>
          </a:prstGeom>
          <a:noFill/>
          <a:ln w="20320">
            <a:solidFill>
              <a:srgbClr val="C7A7FF"/>
            </a:solidFill>
            <a:prstDash val="solid"/>
            <a:tailEnd type="triangle"/>
          </a:ln>
        </p:spPr>
      </p:sp>
      <p:sp>
        <p:nvSpPr>
          <p:cNvPr id="54" name="Shape 51"/>
          <p:cNvSpPr/>
          <p:nvPr/>
        </p:nvSpPr>
        <p:spPr>
          <a:xfrm>
            <a:off x="8869680" y="3291840"/>
            <a:ext cx="1719072" cy="868680"/>
          </a:xfrm>
          <a:prstGeom prst="roundRect">
            <a:avLst>
              <a:gd name="adj" fmla="val 8421"/>
            </a:avLst>
          </a:prstGeom>
          <a:solidFill>
            <a:srgbClr val="19112C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015984" y="3456432"/>
            <a:ext cx="320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E6FF"/>
                </a:solidFill>
              </a:rPr>
              <a:t>06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9400032" y="3456432"/>
            <a:ext cx="1051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2FF"/>
                </a:solidFill>
              </a:rPr>
              <a:t>Render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4297680" y="4983480"/>
            <a:ext cx="6272784" cy="822960"/>
          </a:xfrm>
          <a:prstGeom prst="roundRect">
            <a:avLst>
              <a:gd name="adj" fmla="val 8889"/>
            </a:avLst>
          </a:prstGeom>
          <a:solidFill>
            <a:srgbClr val="21153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526280" y="5266944"/>
            <a:ext cx="5760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2FF"/>
                </a:solidFill>
              </a:rPr>
              <a:t>正式计时范围：像素读取 + 灰度统计 + 归一化 + 直方图渲染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核心算法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不堆复杂概念，保证公式、统计和归一化都可验证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320800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141732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17830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A7FF"/>
                </a:solidFill>
              </a:rPr>
              <a:t>灰度公式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97280" y="2267712"/>
            <a:ext cx="44348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2FF"/>
                </a:solidFill>
              </a:rPr>
              <a:t>gray = 0.299R + 0.587G + 0.114B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1097280" y="2999232"/>
            <a:ext cx="4206240" cy="0"/>
          </a:xfrm>
          <a:prstGeom prst="line">
            <a:avLst/>
          </a:prstGeom>
          <a:noFill/>
          <a:ln w="12700">
            <a:solidFill>
              <a:srgbClr val="4639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334670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A7FF"/>
                </a:solidFill>
              </a:rPr>
              <a:t>•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53312" y="336499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取整后归入 0–255，共 256 个灰度通道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97280" y="379476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A7FF"/>
                </a:solidFill>
              </a:rPr>
              <a:t>•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53312" y="3813048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bins 总和必须等于图片像素总数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97280" y="424281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A7FF"/>
                </a:solidFill>
              </a:rPr>
              <a:t>•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353312" y="426110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每列高度按最大 bin 归一化到 0–100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97280" y="469087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A7FF"/>
                </a:solidFill>
              </a:rPr>
              <a:t>•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353312" y="47091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7F2FF"/>
                </a:solidFill>
              </a:rPr>
              <a:t>Canvas 源尺寸固定为 256×100</a:t>
            </a:r>
            <a:endParaRPr lang="en-US" sz="1400" dirty="0"/>
          </a:p>
        </p:txBody>
      </p:sp>
      <p:pic>
        <p:nvPicPr>
          <p:cNvPr id="45" name="Image 0" descr="/mnt/data/486b391958a9a55cf5eba0fef639689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49658"/>
            <a:ext cx="2240280" cy="4981643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6675120" y="1234440"/>
            <a:ext cx="2240280" cy="5212080"/>
          </a:xfrm>
          <a:prstGeom prst="roundRect">
            <a:avLst>
              <a:gd name="adj" fmla="val 3673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47" name="Image 1" descr="/mnt/data/510c5552561aefa041b844f3182716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034" y="1600200"/>
            <a:ext cx="1661331" cy="4480560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9144000" y="1600200"/>
            <a:ext cx="2057400" cy="448056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性能优化与对照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保留低效对照版本，用同一张图说明实现策略差异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284605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pic>
        <p:nvPicPr>
          <p:cNvPr id="33" name="Image 0" descr="/mnt/data/67fb802409b62b3d8f2e0806ddcb78b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952" y="1325880"/>
            <a:ext cx="4321215" cy="480060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685800" y="1325880"/>
            <a:ext cx="5303520" cy="4800600"/>
          </a:xfrm>
          <a:prstGeom prst="roundRect">
            <a:avLst>
              <a:gd name="adj" fmla="val 1714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629400" y="1508760"/>
            <a:ext cx="2240280" cy="877824"/>
          </a:xfrm>
          <a:prstGeom prst="roundRect">
            <a:avLst>
              <a:gd name="adj" fmla="val 8333"/>
            </a:avLst>
          </a:prstGeom>
          <a:solidFill>
            <a:srgbClr val="1A122C">
              <a:alpha val="96000"/>
            </a:srgbClr>
          </a:solidFill>
          <a:ln w="12700">
            <a:solidFill>
              <a:srgbClr val="5B4A7A">
                <a:alpha val="7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75704" y="1655064"/>
            <a:ext cx="194767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DB0D4"/>
                </a:solidFill>
              </a:rPr>
              <a:t>低效对照版本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775704" y="1892808"/>
            <a:ext cx="1947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B15E"/>
                </a:solidFill>
              </a:rPr>
              <a:t>2693.7ms</a:t>
            </a:r>
            <a:endParaRPr lang="en-US" sz="2200" dirty="0"/>
          </a:p>
        </p:txBody>
      </p:sp>
      <p:sp>
        <p:nvSpPr>
          <p:cNvPr id="38" name="Shape 35"/>
          <p:cNvSpPr/>
          <p:nvPr/>
        </p:nvSpPr>
        <p:spPr>
          <a:xfrm>
            <a:off x="9098280" y="1508760"/>
            <a:ext cx="1965960" cy="877824"/>
          </a:xfrm>
          <a:prstGeom prst="roundRect">
            <a:avLst>
              <a:gd name="adj" fmla="val 8333"/>
            </a:avLst>
          </a:prstGeom>
          <a:solidFill>
            <a:srgbClr val="1A122C">
              <a:alpha val="96000"/>
            </a:srgbClr>
          </a:solidFill>
          <a:ln w="12700">
            <a:solidFill>
              <a:srgbClr val="5B4A7A">
                <a:alpha val="7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244584" y="1655064"/>
            <a:ext cx="167335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BDB0D4"/>
                </a:solidFill>
              </a:rPr>
              <a:t>当前优化版本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9244584" y="1892808"/>
            <a:ext cx="167335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7DF9C4"/>
                </a:solidFill>
              </a:rPr>
              <a:t>46.6ms</a:t>
            </a:r>
            <a:endParaRPr lang="en-US" sz="2200" dirty="0"/>
          </a:p>
        </p:txBody>
      </p:sp>
      <p:sp>
        <p:nvSpPr>
          <p:cNvPr id="41" name="Shape 38"/>
          <p:cNvSpPr/>
          <p:nvPr/>
        </p:nvSpPr>
        <p:spPr>
          <a:xfrm>
            <a:off x="6629400" y="2834640"/>
            <a:ext cx="4434840" cy="2103120"/>
          </a:xfrm>
          <a:prstGeom prst="roundRect">
            <a:avLst>
              <a:gd name="adj" fmla="val 3478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03720" y="312724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2FF"/>
                </a:solidFill>
              </a:rPr>
              <a:t>优化口径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903720" y="360273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159752" y="36210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Uint32Array(256) 直接计数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903720" y="401421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7159752" y="403250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单次遍历 RGBA 数据，step = 4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903720" y="442569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7159752" y="444398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一次归一化，固定 256×100 输出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720840" y="5230368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7A7FF"/>
                </a:solidFill>
              </a:rPr>
              <a:t>约 57.8×</a:t>
            </a:r>
            <a:endParaRPr lang="en-US" sz="2800" dirty="0"/>
          </a:p>
        </p:txBody>
      </p:sp>
      <p:sp>
        <p:nvSpPr>
          <p:cNvPr id="50" name="Text 47"/>
          <p:cNvSpPr/>
          <p:nvPr/>
        </p:nvSpPr>
        <p:spPr>
          <a:xfrm>
            <a:off x="8915400" y="541324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0D4"/>
                </a:solidFill>
              </a:rPr>
              <a:t>同图真机对照提速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验收自检与结果解释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让老师不用翻代码，也能看到结果是否达标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417320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pic>
        <p:nvPicPr>
          <p:cNvPr id="33" name="Image 0" descr="/mnt/data/251ca07abb184781a4f4095985b637c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350" y="1627632"/>
            <a:ext cx="1012381" cy="461772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777240" y="1627632"/>
            <a:ext cx="2514600" cy="4617720"/>
          </a:xfrm>
          <a:prstGeom prst="roundRect">
            <a:avLst>
              <a:gd name="adj" fmla="val 3273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43400" y="14173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A122C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0" y="170078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2FF"/>
                </a:solidFill>
              </a:rPr>
              <a:t>验收自检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4572000" y="208483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BDB0D4"/>
                </a:solidFill>
              </a:rPr>
              <a:t>bins / pixelCount / canvas / elapsedMs 全部通过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406640" y="14173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1A122C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35240" y="170078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7F2FF"/>
                </a:solidFill>
              </a:rPr>
              <a:t>性能余量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7635240" y="20848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F9C4"/>
                </a:solidFill>
              </a:rPr>
              <a:t>49.5ms / 300ms，余量 83.5%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343400" y="3063240"/>
            <a:ext cx="5806440" cy="1298448"/>
          </a:xfrm>
          <a:prstGeom prst="roundRect">
            <a:avLst>
              <a:gd name="adj" fmla="val 5634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90288" y="33649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2FF"/>
                </a:solidFill>
              </a:rPr>
              <a:t>灰度分布分析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4590288" y="3767328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DB0D4"/>
                </a:solidFill>
              </a:rPr>
              <a:t>平均灰度、峰值灰度、暗部 / 中间调 / 亮部占比，用规则解释直方图，不使用 AI。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343400" y="4800600"/>
            <a:ext cx="5806440" cy="749808"/>
          </a:xfrm>
          <a:prstGeom prst="roundRect">
            <a:avLst>
              <a:gd name="adj" fmla="val 9756"/>
            </a:avLst>
          </a:prstGeom>
          <a:solidFill>
            <a:srgbClr val="201532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90288" y="507492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7A7FF"/>
                </a:solidFill>
              </a:rPr>
              <a:t>价值：把“图画出来”扩展为“结果能被验证、能被解释”。</a:t>
            </a:r>
            <a:endParaRPr lang="en-US" sz="1450" dirty="0"/>
          </a:p>
        </p:txBody>
      </p:sp>
      <p:sp>
        <p:nvSpPr>
          <p:cNvPr id="47" name="Text 43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轻量化增强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只加“容易讲清楚”的功能，不让项目变臃肿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417320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pic>
        <p:nvPicPr>
          <p:cNvPr id="33" name="Image 0" descr="/mnt/data/c708e71cf21d0633ee9b29d0995c559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657" y="1627632"/>
            <a:ext cx="2076621" cy="461772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749808" y="1627632"/>
            <a:ext cx="2560320" cy="4617720"/>
          </a:xfrm>
          <a:prstGeom prst="roundRect">
            <a:avLst>
              <a:gd name="adj" fmla="val 3214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35" name="Image 1" descr="/mnt/data/10e82dbd311f6979205c1815424286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609" y="1627632"/>
            <a:ext cx="2076621" cy="461772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3794760" y="1627632"/>
            <a:ext cx="2560320" cy="4617720"/>
          </a:xfrm>
          <a:prstGeom prst="roundRect">
            <a:avLst>
              <a:gd name="adj" fmla="val 3214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498080" y="14173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161029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818120" y="178308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2FF"/>
                </a:solidFill>
              </a:rPr>
              <a:t>新增但不冒险</a:t>
            </a:r>
            <a:endParaRPr lang="en-US" sz="2000" dirty="0"/>
          </a:p>
        </p:txBody>
      </p:sp>
      <p:sp>
        <p:nvSpPr>
          <p:cNvPr id="39" name="Text 35"/>
          <p:cNvSpPr/>
          <p:nvPr/>
        </p:nvSpPr>
        <p:spPr>
          <a:xfrm>
            <a:off x="7818120" y="245059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0" name="Text 36"/>
          <p:cNvSpPr/>
          <p:nvPr/>
        </p:nvSpPr>
        <p:spPr>
          <a:xfrm>
            <a:off x="8074152" y="24688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双图直方图对比：看曝光变化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7818120" y="29443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8074152" y="296265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处理日志：展示读取、计算、归一化、渲染过程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7818120" y="362102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8074152" y="363931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验收协议：保留参数，避免重复解释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7818120" y="42976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A7FF"/>
                </a:solidFill>
              </a:rPr>
              <a:t>•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8074152" y="43159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7F2FF"/>
                </a:solidFill>
              </a:rPr>
              <a:t>全部基于已有 bins，不引入模型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7818120" y="50749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DF9C4"/>
                </a:solidFill>
              </a:rPr>
              <a:t>增强结果展示，不改变核心算法。</a:t>
            </a:r>
            <a:endParaRPr lang="en-US" sz="1450" dirty="0"/>
          </a:p>
        </p:txBody>
      </p:sp>
      <p:sp>
        <p:nvSpPr>
          <p:cNvPr id="49" name="Text 44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测试与验收结果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用真机截图和自动校验证明：能跑、能对、能达标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332865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1417320"/>
            <a:ext cx="4754880" cy="4297680"/>
          </a:xfrm>
          <a:prstGeom prst="roundRect">
            <a:avLst>
              <a:gd name="adj" fmla="val 1702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175564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2FF"/>
                </a:solidFill>
              </a:rPr>
              <a:t>真机测试样例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43000" y="233172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0D4"/>
                </a:solidFill>
              </a:rPr>
              <a:t>图片尺寸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154680" y="23317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F2FF"/>
                </a:solidFill>
              </a:rPr>
              <a:t>1126×1468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3000" y="280720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0D4"/>
                </a:solidFill>
              </a:rPr>
              <a:t>像素总数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154680" y="280720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F2FF"/>
                </a:solidFill>
              </a:rPr>
              <a:t>1,652,968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43000" y="3282696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0D4"/>
                </a:solidFill>
              </a:rPr>
              <a:t>当前耗时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154680" y="3282696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F2FF"/>
                </a:solidFill>
              </a:rPr>
              <a:t>49.5ms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43000" y="375818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0D4"/>
                </a:solidFill>
              </a:rPr>
              <a:t>课程阈值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154680" y="375818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7F2FF"/>
                </a:solidFill>
              </a:rPr>
              <a:t>300ms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143000" y="423367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B0D4"/>
                </a:solidFill>
              </a:rPr>
              <a:t>状态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154680" y="423367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DF9C4"/>
                </a:solidFill>
              </a:rPr>
              <a:t>达标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1051560" y="4956048"/>
            <a:ext cx="4160520" cy="0"/>
          </a:xfrm>
          <a:prstGeom prst="line">
            <a:avLst/>
          </a:prstGeom>
          <a:noFill/>
          <a:ln w="12700">
            <a:solidFill>
              <a:srgbClr val="4639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5166360"/>
            <a:ext cx="3977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7A7FF"/>
                </a:solidFill>
              </a:rPr>
              <a:t>同时通过：256 bins、像素总数一致、归一化范围、输出尺寸、结果一致性。</a:t>
            </a:r>
            <a:endParaRPr lang="en-US" sz="1250" dirty="0"/>
          </a:p>
        </p:txBody>
      </p:sp>
      <p:pic>
        <p:nvPicPr>
          <p:cNvPr id="47" name="Image 0" descr="/mnt/data/251ca07abb184781a4f4095985b637c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150" y="1627632"/>
            <a:ext cx="1012381" cy="4617720"/>
          </a:xfrm>
          <a:prstGeom prst="rect">
            <a:avLst/>
          </a:prstGeom>
        </p:spPr>
      </p:pic>
      <p:sp>
        <p:nvSpPr>
          <p:cNvPr id="48" name="Shape 45"/>
          <p:cNvSpPr/>
          <p:nvPr/>
        </p:nvSpPr>
        <p:spPr>
          <a:xfrm>
            <a:off x="6217920" y="1627632"/>
            <a:ext cx="2148840" cy="4617720"/>
          </a:xfrm>
          <a:prstGeom prst="roundRect">
            <a:avLst>
              <a:gd name="adj" fmla="val 3830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pic>
        <p:nvPicPr>
          <p:cNvPr id="49" name="Image 1" descr="/mnt/data/67fb802409b62b3d8f2e0806ddcb78b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738307"/>
            <a:ext cx="2148840" cy="2387227"/>
          </a:xfrm>
          <a:prstGeom prst="rect">
            <a:avLst/>
          </a:prstGeom>
        </p:spPr>
      </p:pic>
      <p:sp>
        <p:nvSpPr>
          <p:cNvPr id="50" name="Shape 46"/>
          <p:cNvSpPr/>
          <p:nvPr/>
        </p:nvSpPr>
        <p:spPr>
          <a:xfrm>
            <a:off x="9006840" y="1783080"/>
            <a:ext cx="2148840" cy="4297680"/>
          </a:xfrm>
          <a:prstGeom prst="roundRect">
            <a:avLst>
              <a:gd name="adj" fmla="val 3830"/>
            </a:avLst>
          </a:prstGeom>
          <a:solidFill>
            <a:srgbClr val="000000">
              <a:alpha val="0"/>
            </a:srgbClr>
          </a:solidFill>
          <a:ln w="12700">
            <a:solidFill>
              <a:srgbClr val="5E4E85">
                <a:alpha val="82000"/>
              </a:srgbClr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小组分工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按项目生命周期拆分：立项、需求、研发、测试、验收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417320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1508760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1719072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2FF"/>
                </a:solidFill>
              </a:rPr>
              <a:t>刘铠睿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487168" y="168249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7A7FF"/>
                </a:solidFill>
              </a:rPr>
              <a:t>项目确立 / 需求核对 / 竣工验收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715000" y="1682496"/>
            <a:ext cx="5166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DB0D4"/>
                </a:solidFill>
              </a:rPr>
              <a:t>选题确认、验收记录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777240" y="2587752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2798064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2FF"/>
                </a:solidFill>
              </a:rPr>
              <a:t>张颖瑞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2487168" y="276148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7A7FF"/>
                </a:solidFill>
              </a:rPr>
              <a:t>需求确立 / 需求一次验收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715000" y="2761488"/>
            <a:ext cx="5166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DB0D4"/>
                </a:solidFill>
              </a:rPr>
              <a:t>需求分析、功能核对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777240" y="3666744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387705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2FF"/>
                </a:solidFill>
              </a:rPr>
              <a:t>汤吉泽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2487168" y="384048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7A7FF"/>
                </a:solidFill>
              </a:rPr>
              <a:t>辅助研发 / 二次研发测试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715000" y="3840480"/>
            <a:ext cx="5166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DB0D4"/>
                </a:solidFill>
              </a:rPr>
              <a:t>部分功能实现、主流程复测</a:t>
            </a:r>
            <a:endParaRPr lang="en-US" sz="1320" dirty="0"/>
          </a:p>
        </p:txBody>
      </p:sp>
      <p:sp>
        <p:nvSpPr>
          <p:cNvPr id="50" name="Shape 39"/>
          <p:cNvSpPr/>
          <p:nvPr/>
        </p:nvSpPr>
        <p:spPr>
          <a:xfrm>
            <a:off x="777240" y="4800854"/>
            <a:ext cx="10652760" cy="822960"/>
          </a:xfrm>
          <a:prstGeom prst="roundRect">
            <a:avLst>
              <a:gd name="adj" fmla="val 8889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495604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陈尹嘉</a:t>
            </a:r>
            <a:endParaRPr lang="en-US" sz="1700" b="1" dirty="0">
              <a:solidFill>
                <a:schemeClr val="bg1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2487168" y="491947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7A7FF"/>
                </a:solidFill>
              </a:rPr>
              <a:t>核心研发 / 研发自测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715000" y="4919472"/>
            <a:ext cx="51663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BDB0D4"/>
                </a:solidFill>
              </a:rPr>
              <a:t>Android WebView + H5 Canvas 主流程、核心算法、性能优化、指标页</a:t>
            </a:r>
            <a:endParaRPr lang="en-US" sz="1320" dirty="0"/>
          </a:p>
        </p:txBody>
      </p:sp>
      <p:sp>
        <p:nvSpPr>
          <p:cNvPr id="49" name="Text 47"/>
          <p:cNvSpPr/>
          <p:nvPr/>
        </p:nvSpPr>
        <p:spPr>
          <a:xfrm>
            <a:off x="822960" y="5989320"/>
            <a:ext cx="9692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B0D4"/>
                </a:solidFill>
              </a:rPr>
              <a:t>说明：答辩时每人讲自己负责的模块，核心研发页由陈尹嘉说明，测试和验收页由对应成员补充。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7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9601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31546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37033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25196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89788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6350">
            <a:solidFill>
              <a:srgbClr val="231D38">
                <a:alpha val="5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0624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7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21792" y="1005840"/>
            <a:ext cx="79552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DB0D4"/>
                </a:solidFill>
              </a:rPr>
              <a:t>完成课程要求，并把结果做成可验证、可解释、可演示的移动端工具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4360" y="1417320"/>
            <a:ext cx="2011680" cy="0"/>
          </a:xfrm>
          <a:prstGeom prst="line">
            <a:avLst/>
          </a:prstGeom>
          <a:noFill/>
          <a:ln w="25400">
            <a:solidFill>
              <a:srgbClr val="9B6C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150876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" y="170992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A7FF"/>
                </a:solidFill>
              </a:rPr>
              <a:t>完成度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130552" y="1728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7F2FF"/>
                </a:solidFill>
              </a:rPr>
              <a:t>移动端 APK、本地选图、直方图输出、耗时展示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6355080" y="150876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1112" y="170992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A7FF"/>
                </a:solidFill>
              </a:rPr>
              <a:t>正确性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708392" y="1728216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7F2FF"/>
                </a:solidFill>
              </a:rPr>
              <a:t>灰度公式、256 bins、像素总数、归一化自检</a:t>
            </a:r>
            <a:endParaRPr lang="en-US" sz="1280" dirty="0"/>
          </a:p>
        </p:txBody>
      </p:sp>
      <p:sp>
        <p:nvSpPr>
          <p:cNvPr id="39" name="Shape 37"/>
          <p:cNvSpPr/>
          <p:nvPr/>
        </p:nvSpPr>
        <p:spPr>
          <a:xfrm>
            <a:off x="777240" y="2990088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272" y="319125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A7FF"/>
                </a:solidFill>
              </a:rPr>
              <a:t>性能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2130552" y="320954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7F2FF"/>
                </a:solidFill>
              </a:rPr>
              <a:t>当前真机样例约 46–50ms，低于 300ms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6355080" y="2990088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17112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11112" y="319125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7A7FF"/>
                </a:solidFill>
              </a:rPr>
              <a:t>展示性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708392" y="320954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F7F2FF"/>
                </a:solidFill>
              </a:rPr>
              <a:t>控制台式 UI、日志、指标、双图对比</a:t>
            </a:r>
            <a:endParaRPr lang="en-US" sz="1280" dirty="0"/>
          </a:p>
        </p:txBody>
      </p:sp>
      <p:sp>
        <p:nvSpPr>
          <p:cNvPr id="45" name="Shape 43"/>
          <p:cNvSpPr/>
          <p:nvPr/>
        </p:nvSpPr>
        <p:spPr>
          <a:xfrm>
            <a:off x="1645920" y="4663440"/>
            <a:ext cx="8915400" cy="822960"/>
          </a:xfrm>
          <a:prstGeom prst="roundRect">
            <a:avLst>
              <a:gd name="adj" fmla="val 8889"/>
            </a:avLst>
          </a:prstGeom>
          <a:solidFill>
            <a:srgbClr val="211536">
              <a:alpha val="96000"/>
            </a:srgbClr>
          </a:solidFill>
          <a:ln w="12700">
            <a:solidFill>
              <a:srgbClr val="46396A">
                <a:alpha val="7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20240" y="4956048"/>
            <a:ext cx="8321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7F2FF"/>
                </a:solidFill>
              </a:rPr>
              <a:t>后续可扩展：更多测试图片集、更多设备真机记录、导出实验报告。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4892040" y="58064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7A7FF"/>
                </a:solidFill>
              </a:rPr>
              <a:t>Q&amp;A</a:t>
            </a:r>
            <a:endParaRPr lang="en-US" sz="3000" dirty="0"/>
          </a:p>
        </p:txBody>
      </p:sp>
      <p:sp>
        <p:nvSpPr>
          <p:cNvPr id="49" name="Text 46"/>
          <p:cNvSpPr/>
          <p:nvPr/>
        </p:nvSpPr>
        <p:spPr>
          <a:xfrm>
            <a:off x="594360" y="6473952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82AA"/>
                </a:solidFill>
              </a:rPr>
              <a:t>移动端图像直方图分析系统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1851</Words>
  <Application>WPS 文字</Application>
  <PresentationFormat>On-screen Show (16:9)</PresentationFormat>
  <Paragraphs>323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 Development Practice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移动端图像直方图分析系统</dc:title>
  <dc:creator>Mobile Histogram Analyzer Team</dc:creator>
  <dc:subject>图像直方图工程控制台答辩</dc:subject>
  <cp:lastModifiedBy>WPS_1780539211</cp:lastModifiedBy>
  <cp:revision>9</cp:revision>
  <dcterms:created xsi:type="dcterms:W3CDTF">2026-07-08T08:08:44Z</dcterms:created>
  <dcterms:modified xsi:type="dcterms:W3CDTF">2026-07-08T08:08:44Z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AEDCECCDFEFA9C2CBA044E6AA7B455C2_42</vt:lpwstr>
  </property>
  <property fmtid="{D5CDD505-2E9C-101B-9397-08002B2CF9AE}" pid="3" name="KSOProductBuildVer">
    <vt:lpwstr>2052-12.1.26026.26026</vt:lpwstr>
  </property>
</Properties>
</file>